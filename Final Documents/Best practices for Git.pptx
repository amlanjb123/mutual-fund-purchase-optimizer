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l="-1000" t="-1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35580" y="6408416"/>
            <a:ext cx="1112519" cy="350519"/>
            <a:chOff x="5742940" y="7112000"/>
            <a:chExt cx="1112519" cy="350519"/>
          </a:xfrm>
          <a:solidFill>
            <a:srgbClr val="30A6D3"/>
          </a:solidFill>
        </p:grpSpPr>
        <p:grpSp>
          <p:nvGrpSpPr>
            <p:cNvPr id="3" name="Group 3"/>
            <p:cNvGrpSpPr/>
            <p:nvPr/>
          </p:nvGrpSpPr>
          <p:grpSpPr>
            <a:xfrm>
              <a:off x="5742940" y="71120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4" name="AutoShape 4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" name="AutoShape 5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8" name="AutoShape 8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5742940" y="72644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13" name="AutoShape 13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5" name="AutoShape 15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742940" y="74168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22" name="AutoShape 22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3" name="AutoShape 23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4" name="AutoShape 24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5" name="AutoShape 25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6" name="AutoShape 26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7" name="AutoShape 27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8" name="AutoShape 28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9" name="AutoShape 29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254417" y="1398491"/>
            <a:ext cx="7609205" cy="200850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baseline="0">
                <a:solidFill>
                  <a:srgbClr val="262626">
                    <a:alpha val="100000"/>
                  </a:srgbClr>
                </a:solidFill>
                <a:latin typeface="思源黑体 Medium"/>
                <a:ea typeface="思源黑体 Medium"/>
              </a:rPr>
              <a:t>10 Best Practices for Managing 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3600" b="1" i="0" u="none" baseline="0">
                <a:solidFill>
                  <a:srgbClr val="262626">
                    <a:alpha val="100000"/>
                  </a:srgbClr>
                </a:solidFill>
                <a:latin typeface="思源黑体 Medium"/>
                <a:ea typeface="思源黑体 Medium"/>
              </a:rPr>
              <a:t>GitHub Repositories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3985" y="6408416"/>
            <a:ext cx="1112519" cy="350519"/>
            <a:chOff x="5742940" y="7112000"/>
            <a:chExt cx="1112519" cy="350519"/>
          </a:xfrm>
          <a:solidFill>
            <a:srgbClr val="30A6D3"/>
          </a:solidFill>
        </p:grpSpPr>
        <p:grpSp>
          <p:nvGrpSpPr>
            <p:cNvPr id="32" name="Group 32"/>
            <p:cNvGrpSpPr/>
            <p:nvPr/>
          </p:nvGrpSpPr>
          <p:grpSpPr>
            <a:xfrm>
              <a:off x="5742940" y="71120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33" name="AutoShape 33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34" name="AutoShape 34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35" name="AutoShape 35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36" name="AutoShape 36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37" name="AutoShape 37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38" name="AutoShape 38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39" name="AutoShape 39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0" name="AutoShape 40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742940" y="72644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42" name="AutoShape 42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3" name="AutoShape 43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4" name="AutoShape 44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5" name="AutoShape 45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6" name="AutoShape 46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7" name="AutoShape 47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8" name="AutoShape 48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9" name="AutoShape 49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5742940" y="74168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51" name="AutoShape 51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2" name="AutoShape 52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3" name="AutoShape 53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4" name="AutoShape 54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5" name="AutoShape 55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6" name="AutoShape 56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7" name="AutoShape 57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8" name="AutoShape 58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</p:grpSp>
      <p:sp>
        <p:nvSpPr>
          <p:cNvPr id="59" name="TextBox 59"/>
          <p:cNvSpPr txBox="1"/>
          <p:nvPr/>
        </p:nvSpPr>
        <p:spPr>
          <a:xfrm>
            <a:off x="468258" y="5029200"/>
            <a:ext cx="48006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IN" altLang="zh-CN" sz="1800" b="0" i="0" u="none" baseline="0" dirty="0">
                <a:solidFill>
                  <a:schemeClr val="dk1"/>
                </a:solidFill>
              </a:rPr>
              <a:t>Kevin Kashung</a:t>
            </a:r>
            <a:endParaRPr lang="en-US" sz="1100" dirty="0"/>
          </a:p>
        </p:txBody>
      </p:sp>
      <p:sp>
        <p:nvSpPr>
          <p:cNvPr id="60" name="AutoShape 6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l="-1000" t="-1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42455" y="2287270"/>
            <a:ext cx="3925570" cy="2061210"/>
            <a:chOff x="9970" y="3635"/>
            <a:chExt cx="6182" cy="3246"/>
          </a:xfrm>
        </p:grpSpPr>
        <p:grpSp>
          <p:nvGrpSpPr>
            <p:cNvPr id="3" name="Group 3"/>
            <p:cNvGrpSpPr/>
            <p:nvPr/>
          </p:nvGrpSpPr>
          <p:grpSpPr>
            <a:xfrm>
              <a:off x="9970" y="3635"/>
              <a:ext cx="6182" cy="1300"/>
              <a:chOff x="7974" y="1789"/>
              <a:chExt cx="6182" cy="130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8414" y="1898"/>
                <a:ext cx="5742" cy="1191"/>
              </a:xfrm>
              <a:prstGeom prst="round2DiagRect">
                <a:avLst>
                  <a:gd name="adj1" fmla="val 47642"/>
                  <a:gd name="adj2" fmla="val 0"/>
                </a:avLst>
              </a:prstGeom>
              <a:solidFill>
                <a:srgbClr val="FFFFFF"/>
              </a:solidFill>
              <a:ln>
                <a:solidFill>
                  <a:srgbClr val="2CA8DF"/>
                </a:solidFill>
              </a:ln>
              <a:effectLst>
                <a:outerShdw blurRad="25400" dist="38100" dir="2700000" algn="tl" rotWithShape="0">
                  <a:schemeClr val="accent6">
                    <a:alpha val="40000"/>
                    <a:lumMod val="40000"/>
                    <a:lumOff val="60000"/>
                  </a:schemeClr>
                </a:outerShdw>
              </a:effectLst>
            </p:spPr>
            <p:txBody>
              <a:bodyPr vert="horz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" name="AutoShape 5"/>
              <p:cNvSpPr/>
              <p:nvPr/>
            </p:nvSpPr>
            <p:spPr>
              <a:xfrm>
                <a:off x="8231" y="1789"/>
                <a:ext cx="1221" cy="1090"/>
              </a:xfrm>
              <a:prstGeom prst="round2DiagRect">
                <a:avLst>
                  <a:gd name="adj1" fmla="val 41530"/>
                  <a:gd name="adj2" fmla="val 0"/>
                </a:avLst>
              </a:prstGeom>
              <a:solidFill>
                <a:srgbClr val="EB121A"/>
              </a:solidFill>
              <a:ln>
                <a:noFill/>
              </a:ln>
              <a:effectLst/>
            </p:spPr>
            <p:txBody>
              <a:bodyPr vert="horz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9557" y="1898"/>
                <a:ext cx="4516" cy="119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indent="0" algn="l" fontAlgn="auto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2000" b="0" i="0" u="none" baseline="0">
                    <a:solidFill>
                      <a:srgbClr val="404040"/>
                    </a:solidFill>
                    <a:latin typeface="思源黑体 Normal"/>
                    <a:ea typeface="思源黑体 Normal"/>
                  </a:rPr>
                  <a:t>Introduction to Repository Management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974" y="1913"/>
                <a:ext cx="1735" cy="859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  <a:scene3d>
                  <a:camera prst="orthographicFront"/>
                  <a:lightRig rig="threePt" dir="t"/>
                </a:scene3d>
              </a:bodyPr>
              <a:lstStyle/>
              <a:p>
                <a:pPr marL="0" indent="0" algn="ctr" fontAlgn="auto">
                  <a:defRPr/>
                </a:pPr>
                <a:r>
                  <a:rPr lang="en-US" sz="3200" b="1" i="0" u="none" spc="100" baseline="0">
                    <a:ln w="10160"/>
                    <a:solidFill>
                      <a:srgbClr val="FFFFFF"/>
                    </a:solidFill>
                    <a:effectLst/>
                    <a:latin typeface="思源黑体 Medium"/>
                    <a:ea typeface="思源黑体 Medium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9970" y="5581"/>
              <a:ext cx="6182" cy="1300"/>
              <a:chOff x="7974" y="1789"/>
              <a:chExt cx="6182" cy="1300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8414" y="1898"/>
                <a:ext cx="5742" cy="1191"/>
              </a:xfrm>
              <a:prstGeom prst="round2DiagRect">
                <a:avLst>
                  <a:gd name="adj1" fmla="val 47642"/>
                  <a:gd name="adj2" fmla="val 0"/>
                </a:avLst>
              </a:prstGeom>
              <a:solidFill>
                <a:srgbClr val="FFFFFF"/>
              </a:solidFill>
              <a:ln>
                <a:solidFill>
                  <a:srgbClr val="2CA8DF"/>
                </a:solidFill>
              </a:ln>
              <a:effectLst>
                <a:outerShdw blurRad="25400" dist="38100" dir="2700000" algn="tl" rotWithShape="0">
                  <a:schemeClr val="accent6">
                    <a:alpha val="40000"/>
                    <a:lumMod val="40000"/>
                    <a:lumOff val="60000"/>
                  </a:schemeClr>
                </a:outerShdw>
              </a:effectLst>
            </p:spPr>
            <p:txBody>
              <a:bodyPr vert="horz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8231" y="1789"/>
                <a:ext cx="1221" cy="1090"/>
              </a:xfrm>
              <a:prstGeom prst="round2DiagRect">
                <a:avLst>
                  <a:gd name="adj1" fmla="val 41530"/>
                  <a:gd name="adj2" fmla="val 0"/>
                </a:avLst>
              </a:prstGeom>
              <a:solidFill>
                <a:srgbClr val="EB121A"/>
              </a:solidFill>
              <a:ln>
                <a:noFill/>
              </a:ln>
              <a:effectLst/>
            </p:spPr>
            <p:txBody>
              <a:bodyPr vert="horz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557" y="1898"/>
                <a:ext cx="4516" cy="119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indent="0" algn="l" fontAlgn="auto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2000" b="0" i="0" u="none" baseline="0">
                    <a:solidFill>
                      <a:srgbClr val="404040"/>
                    </a:solidFill>
                    <a:latin typeface="思源黑体 Normal"/>
                    <a:ea typeface="思源黑体 Normal"/>
                  </a:rPr>
                  <a:t>Core Best Practices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74" y="1913"/>
                <a:ext cx="1735" cy="859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  <a:scene3d>
                  <a:camera prst="orthographicFront"/>
                  <a:lightRig rig="threePt" dir="t"/>
                </a:scene3d>
              </a:bodyPr>
              <a:lstStyle/>
              <a:p>
                <a:pPr marL="0" indent="0" algn="ctr" fontAlgn="auto">
                  <a:defRPr/>
                </a:pPr>
                <a:r>
                  <a:rPr lang="en-US" sz="3200" b="1" i="0" u="none" spc="100" baseline="0">
                    <a:ln w="10160"/>
                    <a:solidFill>
                      <a:srgbClr val="FFFFFF"/>
                    </a:solidFill>
                    <a:effectLst/>
                    <a:latin typeface="思源黑体 Medium"/>
                    <a:ea typeface="思源黑体 Medium"/>
                  </a:rPr>
                  <a:t>02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7194775" y="1116962"/>
            <a:ext cx="3420930" cy="814651"/>
          </a:xfrm>
          <a:prstGeom prst="rect">
            <a:avLst/>
          </a:prstGeom>
          <a:noFill/>
          <a:effectLst/>
        </p:spPr>
        <p:txBody>
          <a:bodyPr vert="horz" wrap="square" lIns="100584" tIns="50292" rIns="100584" bIns="50292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200" b="0" i="0" u="none" baseline="0">
                <a:solidFill>
                  <a:srgbClr val="EB121A">
                    <a:alpha val="100000"/>
                  </a:srgbClr>
                </a:solidFill>
                <a:latin typeface="思源黑体 Medium"/>
                <a:ea typeface="思源黑体 Medium"/>
              </a:rPr>
              <a:t>Contents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701145" y="3658235"/>
            <a:ext cx="4064000" cy="368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algn="l">
              <a:defRPr/>
            </a:pPr>
            <a:endParaRPr lang="en-US" sz="110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l="-1000" t="-1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370" y="1379544"/>
            <a:ext cx="7232015" cy="3670446"/>
            <a:chOff x="8123" y="964"/>
            <a:chExt cx="11389" cy="5780"/>
          </a:xfrm>
        </p:grpSpPr>
        <p:grpSp>
          <p:nvGrpSpPr>
            <p:cNvPr id="3" name="Group 3"/>
            <p:cNvGrpSpPr/>
            <p:nvPr/>
          </p:nvGrpSpPr>
          <p:grpSpPr>
            <a:xfrm>
              <a:off x="8279" y="964"/>
              <a:ext cx="6140" cy="1082"/>
              <a:chOff x="8973" y="1219"/>
              <a:chExt cx="6140" cy="1082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8973" y="1220"/>
                <a:ext cx="6140" cy="1081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9845" y="1219"/>
                <a:ext cx="4396" cy="102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dist">
                  <a:defRPr/>
                </a:pPr>
                <a:r>
                  <a:rPr lang="en-US" sz="4000" b="1" i="0" u="none" baseline="0">
                    <a:solidFill>
                      <a:srgbClr val="EF0F23"/>
                    </a:solidFill>
                    <a:latin typeface="思源黑体 Medium"/>
                    <a:ea typeface="思源黑体 Medium"/>
                  </a:rPr>
                  <a:t>PART-01</a:t>
                </a:r>
                <a:endParaRPr lang="en-US" sz="110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8123" y="2762"/>
              <a:ext cx="11389" cy="344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  <a:scene3d>
                <a:camera prst="orthographicFront"/>
                <a:lightRig rig="threePt" dir="t"/>
              </a:scene3d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4800" b="1" i="0" u="none" spc="400" baseline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思源黑体 Medium"/>
                  <a:ea typeface="思源黑体 Medium"/>
                </a:rPr>
                <a:t>Introduction to Repository Management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8262" y="6623"/>
              <a:ext cx="10877" cy="121"/>
              <a:chOff x="4803" y="5141"/>
              <a:chExt cx="10293" cy="119"/>
            </a:xfrm>
          </p:grpSpPr>
          <p:cxnSp>
            <p:nvCxnSpPr>
              <p:cNvPr id="8" name="Connector 8"/>
              <p:cNvCxnSpPr/>
              <p:nvPr/>
            </p:nvCxnSpPr>
            <p:spPr>
              <a:xfrm>
                <a:off x="5025" y="5216"/>
                <a:ext cx="10071" cy="0"/>
              </a:xfrm>
              <a:prstGeom prst="line">
                <a:avLst/>
              </a:prstGeom>
              <a:ln w="9525">
                <a:solidFill>
                  <a:srgbClr val="FF1023"/>
                </a:solidFill>
              </a:ln>
            </p:spPr>
          </p:cxnSp>
          <p:sp>
            <p:nvSpPr>
              <p:cNvPr id="9" name="AutoShape 9"/>
              <p:cNvSpPr/>
              <p:nvPr/>
            </p:nvSpPr>
            <p:spPr>
              <a:xfrm>
                <a:off x="4803" y="5141"/>
                <a:ext cx="2673" cy="119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</p:grpSp>
      </p:grp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700" y="1528982"/>
            <a:ext cx="10848976" cy="4549862"/>
            <a:chOff x="671512" y="1814732"/>
            <a:chExt cx="10848976" cy="4549862"/>
          </a:xfrm>
        </p:grpSpPr>
        <p:cxnSp>
          <p:nvCxnSpPr>
            <p:cNvPr id="3" name="Connector 3"/>
            <p:cNvCxnSpPr/>
            <p:nvPr/>
          </p:nvCxnSpPr>
          <p:spPr>
            <a:xfrm>
              <a:off x="6115050" y="4152949"/>
              <a:ext cx="0" cy="2211645"/>
            </a:xfrm>
            <a:prstGeom prst="line">
              <a:avLst/>
            </a:prstGeom>
            <a:ln w="6350" cap="rnd">
              <a:solidFill>
                <a:schemeClr val="tx2">
                  <a:alpha val="50000"/>
                </a:schemeClr>
              </a:solidFill>
            </a:ln>
          </p:spPr>
        </p:cxnSp>
        <p:grpSp>
          <p:nvGrpSpPr>
            <p:cNvPr id="4" name="Group 4"/>
            <p:cNvGrpSpPr/>
            <p:nvPr/>
          </p:nvGrpSpPr>
          <p:grpSpPr>
            <a:xfrm>
              <a:off x="671512" y="1814732"/>
              <a:ext cx="10848976" cy="2177071"/>
              <a:chOff x="671512" y="1814732"/>
              <a:chExt cx="10848976" cy="2177071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71512" y="1814732"/>
                <a:ext cx="10848976" cy="1776193"/>
              </a:xfrm>
              <a:prstGeom prst="rect">
                <a:avLst/>
              </a:prstGeom>
              <a:blipFill rotWithShape="1">
                <a:blip r:embed="rId3"/>
                <a:stretch>
                  <a:fillRect l="7" t="-147894" r="-7" b="-147244"/>
                </a:stretch>
              </a:blipFill>
              <a:ln cap="flat" cmpd="sng">
                <a:noFill/>
                <a:prstDash val="solid"/>
                <a:miter lim="800000"/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2829838" y="3156181"/>
                <a:ext cx="835622" cy="835622"/>
              </a:xfrm>
              <a:prstGeom prst="ellipse">
                <a:avLst/>
              </a:prstGeom>
              <a:solidFill>
                <a:srgbClr val="EB121A"/>
              </a:solidFill>
              <a:ln>
                <a:noFill/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8590040" y="3156181"/>
              <a:ext cx="835622" cy="835622"/>
            </a:xfrm>
            <a:prstGeom prst="ellipse">
              <a:avLst/>
            </a:prstGeom>
            <a:solidFill>
              <a:srgbClr val="EB121A"/>
            </a:solidFill>
            <a:ln>
              <a:noFill/>
            </a:ln>
            <a:effectLst/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06065" y="2943860"/>
            <a:ext cx="84074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63610" y="2960370"/>
            <a:ext cx="83820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77597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Essential for Collaboration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7597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Effective GitHub management ensures smooth collaboration, code clarity, and thriving open-source communities. It boosts productivity for seasoned developers and beginners alike.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146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Productivity and Success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146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Adhering to best practices enhances project success by maintaining organization and reducing friction in contributions.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Why Manage Your Repositories?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l="-1000" t="-1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370" y="1379544"/>
            <a:ext cx="7232015" cy="3670446"/>
            <a:chOff x="8123" y="964"/>
            <a:chExt cx="11389" cy="5780"/>
          </a:xfrm>
        </p:grpSpPr>
        <p:grpSp>
          <p:nvGrpSpPr>
            <p:cNvPr id="3" name="Group 3"/>
            <p:cNvGrpSpPr/>
            <p:nvPr/>
          </p:nvGrpSpPr>
          <p:grpSpPr>
            <a:xfrm>
              <a:off x="8279" y="964"/>
              <a:ext cx="6140" cy="1082"/>
              <a:chOff x="8973" y="1219"/>
              <a:chExt cx="6140" cy="1082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8973" y="1220"/>
                <a:ext cx="6140" cy="1081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9845" y="1219"/>
                <a:ext cx="4396" cy="102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dist">
                  <a:defRPr/>
                </a:pPr>
                <a:r>
                  <a:rPr lang="en-US" sz="4000" b="1" i="0" u="none" baseline="0">
                    <a:solidFill>
                      <a:srgbClr val="EF0F23"/>
                    </a:solidFill>
                    <a:latin typeface="思源黑体 Medium"/>
                    <a:ea typeface="思源黑体 Medium"/>
                  </a:rPr>
                  <a:t>PART-02</a:t>
                </a:r>
                <a:endParaRPr lang="en-US" sz="110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8123" y="2762"/>
              <a:ext cx="11389" cy="344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  <a:scene3d>
                <a:camera prst="orthographicFront"/>
                <a:lightRig rig="threePt" dir="t"/>
              </a:scene3d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4800" b="1" i="0" u="none" spc="400" baseline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思源黑体 Medium"/>
                  <a:ea typeface="思源黑体 Medium"/>
                </a:rPr>
                <a:t>Core Best Practices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8262" y="6623"/>
              <a:ext cx="10877" cy="121"/>
              <a:chOff x="4803" y="5141"/>
              <a:chExt cx="10293" cy="119"/>
            </a:xfrm>
          </p:grpSpPr>
          <p:cxnSp>
            <p:nvCxnSpPr>
              <p:cNvPr id="8" name="Connector 8"/>
              <p:cNvCxnSpPr/>
              <p:nvPr/>
            </p:nvCxnSpPr>
            <p:spPr>
              <a:xfrm>
                <a:off x="5025" y="5216"/>
                <a:ext cx="10071" cy="0"/>
              </a:xfrm>
              <a:prstGeom prst="line">
                <a:avLst/>
              </a:prstGeom>
              <a:ln w="9525">
                <a:solidFill>
                  <a:srgbClr val="FF1023"/>
                </a:solidFill>
              </a:ln>
            </p:spPr>
          </p:cxnSp>
          <p:sp>
            <p:nvSpPr>
              <p:cNvPr id="9" name="AutoShape 9"/>
              <p:cNvSpPr/>
              <p:nvPr/>
            </p:nvSpPr>
            <p:spPr>
              <a:xfrm>
                <a:off x="4803" y="5141"/>
                <a:ext cx="2673" cy="119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</p:grpSp>
      </p:grp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6595" y="2295525"/>
            <a:ext cx="5102225" cy="36125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61390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EB121A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Normal"/>
                <a:ea typeface="思源黑体 Normal"/>
              </a:rPr>
              <a:t>01</a:t>
            </a:r>
          </a:p>
        </p:txBody>
      </p:sp>
      <p:cxnSp>
        <p:nvCxnSpPr>
          <p:cNvPr id="4" name="Connector 4"/>
          <p:cNvCxnSpPr/>
          <p:nvPr/>
        </p:nvCxnSpPr>
        <p:spPr>
          <a:xfrm flipV="1">
            <a:off x="916305" y="3330575"/>
            <a:ext cx="4662805" cy="0"/>
          </a:xfrm>
          <a:prstGeom prst="line">
            <a:avLst/>
          </a:prstGeom>
          <a:ln w="22225">
            <a:solidFill>
              <a:srgbClr val="EB121A">
                <a:alpha val="50000"/>
              </a:srgbClr>
            </a:solidFill>
          </a:ln>
        </p:spPr>
      </p:cxnSp>
      <p:sp>
        <p:nvSpPr>
          <p:cNvPr id="5" name="AutoShape 5"/>
          <p:cNvSpPr/>
          <p:nvPr/>
        </p:nvSpPr>
        <p:spPr>
          <a:xfrm>
            <a:off x="6393815" y="2295525"/>
            <a:ext cx="5102225" cy="36125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57975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EB121A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Normal"/>
                <a:ea typeface="思源黑体 Normal"/>
              </a:rPr>
              <a:t>02</a:t>
            </a:r>
          </a:p>
        </p:txBody>
      </p:sp>
      <p:cxnSp>
        <p:nvCxnSpPr>
          <p:cNvPr id="7" name="Connector 7"/>
          <p:cNvCxnSpPr/>
          <p:nvPr/>
        </p:nvCxnSpPr>
        <p:spPr>
          <a:xfrm flipV="1">
            <a:off x="6614160" y="3336290"/>
            <a:ext cx="4662170" cy="0"/>
          </a:xfrm>
          <a:prstGeom prst="line">
            <a:avLst/>
          </a:prstGeom>
          <a:ln w="22225">
            <a:solidFill>
              <a:srgbClr val="EB121A">
                <a:alpha val="50000"/>
              </a:srgbClr>
            </a:solidFill>
          </a:ln>
        </p:spPr>
      </p:cxn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1. Clear Repository Structure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  <p:sp>
        <p:nvSpPr>
          <p:cNvPr id="10" name="TextBox 10"/>
          <p:cNvSpPr txBox="1"/>
          <p:nvPr/>
        </p:nvSpPr>
        <p:spPr>
          <a:xfrm>
            <a:off x="961390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Organize Intuitively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961390" y="3343275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Establish a logical file and directory structure that's easy for contributors to navigate. Avoid mess like in a cluttered room.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657975" y="3343275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 well-structured repo helps others understand and contribute effectively, fostering better project adoption.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57975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Benefits for Contributors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0626" y="2123622"/>
            <a:ext cx="6395640" cy="3058431"/>
            <a:chOff x="784951" y="2533197"/>
            <a:chExt cx="6395640" cy="3058431"/>
          </a:xfrm>
        </p:grpSpPr>
        <p:grpSp>
          <p:nvGrpSpPr>
            <p:cNvPr id="3" name="Group 3"/>
            <p:cNvGrpSpPr/>
            <p:nvPr/>
          </p:nvGrpSpPr>
          <p:grpSpPr>
            <a:xfrm>
              <a:off x="784951" y="2533197"/>
              <a:ext cx="595086" cy="3042556"/>
              <a:chOff x="784951" y="2533197"/>
              <a:chExt cx="595086" cy="3042556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784951" y="2533197"/>
                <a:ext cx="595086" cy="595086"/>
              </a:xfrm>
              <a:prstGeom prst="ellipse">
                <a:avLst/>
              </a:prstGeom>
              <a:solidFill>
                <a:srgbClr val="EB121A"/>
              </a:solidFill>
              <a:ln>
                <a:noFill/>
              </a:ln>
            </p:spPr>
            <p:txBody>
              <a:bodyPr vert="horz" wrap="square" lIns="90170" tIns="46990" rIns="90170" bIns="46990" anchor="ctr">
                <a:normAutofit/>
              </a:bodyPr>
              <a:lstStyle/>
              <a:p>
                <a:pPr marL="0" algn="ctr"/>
                <a:r>
                  <a:rPr lang="en-US" sz="1439" b="1" i="0" u="none" baseline="0">
                    <a:solidFill>
                      <a:schemeClr val="lt1"/>
                    </a:solidFill>
                    <a:latin typeface="思源黑体 Normal"/>
                    <a:ea typeface="思源黑体 Normal"/>
                  </a:rPr>
                  <a:t>01</a:t>
                </a:r>
              </a:p>
            </p:txBody>
          </p:sp>
          <p:cxnSp>
            <p:nvCxnSpPr>
              <p:cNvPr id="5" name="Connector 5"/>
              <p:cNvCxnSpPr/>
              <p:nvPr/>
            </p:nvCxnSpPr>
            <p:spPr>
              <a:xfrm>
                <a:off x="1081972" y="3128283"/>
                <a:ext cx="0" cy="2370817"/>
              </a:xfrm>
              <a:prstGeom prst="line">
                <a:avLst/>
              </a:prstGeom>
              <a:ln w="6350" cap="flat" cmpd="sng">
                <a:solidFill>
                  <a:schemeClr val="accent1"/>
                </a:solidFill>
                <a:prstDash val="solid"/>
              </a:ln>
            </p:spPr>
          </p:cxnSp>
          <p:sp>
            <p:nvSpPr>
              <p:cNvPr id="6" name="AutoShape 6"/>
              <p:cNvSpPr/>
              <p:nvPr/>
            </p:nvSpPr>
            <p:spPr>
              <a:xfrm>
                <a:off x="1029246" y="5483227"/>
                <a:ext cx="92526" cy="9252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6585505" y="2533197"/>
              <a:ext cx="595086" cy="3058431"/>
              <a:chOff x="6585505" y="2533197"/>
              <a:chExt cx="595086" cy="3058431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6585505" y="2533197"/>
                <a:ext cx="595086" cy="595086"/>
              </a:xfrm>
              <a:prstGeom prst="ellipse">
                <a:avLst/>
              </a:prstGeom>
              <a:solidFill>
                <a:srgbClr val="EB121A"/>
              </a:solidFill>
              <a:ln>
                <a:noFill/>
              </a:ln>
            </p:spPr>
            <p:txBody>
              <a:bodyPr vert="horz" wrap="square" lIns="90170" tIns="46990" rIns="90170" bIns="46990" anchor="ctr">
                <a:normAutofit/>
              </a:bodyPr>
              <a:lstStyle/>
              <a:p>
                <a:pPr marL="0" algn="ctr"/>
                <a:r>
                  <a:rPr lang="en-US" sz="1439" b="1" i="0" u="none" baseline="0">
                    <a:solidFill>
                      <a:schemeClr val="lt1"/>
                    </a:solidFill>
                    <a:latin typeface="思源黑体 Normal"/>
                    <a:ea typeface="思源黑体 Normal"/>
                  </a:rPr>
                  <a:t>02</a:t>
                </a:r>
              </a:p>
            </p:txBody>
          </p:sp>
          <p:cxnSp>
            <p:nvCxnSpPr>
              <p:cNvPr id="9" name="Connector 9"/>
              <p:cNvCxnSpPr/>
              <p:nvPr/>
            </p:nvCxnSpPr>
            <p:spPr>
              <a:xfrm>
                <a:off x="6883048" y="3128283"/>
                <a:ext cx="0" cy="2370817"/>
              </a:xfrm>
              <a:prstGeom prst="line">
                <a:avLst/>
              </a:prstGeom>
              <a:ln w="9525">
                <a:solidFill>
                  <a:schemeClr val="accent2"/>
                </a:solidFill>
              </a:ln>
            </p:spPr>
          </p:cxnSp>
          <p:sp>
            <p:nvSpPr>
              <p:cNvPr id="10" name="AutoShape 10"/>
              <p:cNvSpPr/>
              <p:nvPr/>
            </p:nvSpPr>
            <p:spPr>
              <a:xfrm>
                <a:off x="6837591" y="5499102"/>
                <a:ext cx="92526" cy="925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2. Meaningful README File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  <p:sp>
        <p:nvSpPr>
          <p:cNvPr id="13" name="TextBox 13"/>
          <p:cNvSpPr txBox="1"/>
          <p:nvPr/>
        </p:nvSpPr>
        <p:spPr>
          <a:xfrm>
            <a:off x="1069340" y="2585085"/>
            <a:ext cx="4860290" cy="54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First Impression Matters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65530" y="3136265"/>
            <a:ext cx="4860290" cy="2045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Craft an engaging README.md as the entry point—include project description, installation steps, examples, guidelines, and license.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870065" y="2585085"/>
            <a:ext cx="4860290" cy="54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Attract Users and Contributors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866255" y="3136265"/>
            <a:ext cx="4860290" cy="2045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A comprehensive README draws in users and collaborators, making your project more accessible and appealing.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jpeg"/>
          <p:cNvPicPr>
            <a:picLocks noChangeAspect="1"/>
          </p:cNvPicPr>
          <p:nvPr/>
        </p:nvPicPr>
        <p:blipFill>
          <a:blip r:embed="rId3"/>
          <a:srcRect l="25009" r="25009"/>
          <a:stretch>
            <a:fillRect/>
          </a:stretch>
        </p:blipFill>
        <p:spPr>
          <a:xfrm>
            <a:off x="7330849" y="1377981"/>
            <a:ext cx="3780000" cy="5040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3. Consistent Coding Style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  <p:grpSp>
        <p:nvGrpSpPr>
          <p:cNvPr id="5" name="Group 5"/>
          <p:cNvGrpSpPr/>
          <p:nvPr/>
        </p:nvGrpSpPr>
        <p:grpSpPr>
          <a:xfrm>
            <a:off x="685165" y="1434816"/>
            <a:ext cx="6076950" cy="4888230"/>
            <a:chOff x="1079" y="2205"/>
            <a:chExt cx="9570" cy="7698"/>
          </a:xfrm>
        </p:grpSpPr>
        <p:grpSp>
          <p:nvGrpSpPr>
            <p:cNvPr id="6" name="Group 6"/>
            <p:cNvGrpSpPr/>
            <p:nvPr/>
          </p:nvGrpSpPr>
          <p:grpSpPr>
            <a:xfrm>
              <a:off x="1079" y="6223"/>
              <a:ext cx="9524" cy="3681"/>
              <a:chOff x="1079" y="6223"/>
              <a:chExt cx="9524" cy="368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79" y="7070"/>
                <a:ext cx="9524" cy="2835"/>
              </a:xfrm>
              <a:prstGeom prst="rect">
                <a:avLst/>
              </a:prstGeom>
            </p:spPr>
            <p:txBody>
              <a:bodyPr vert="horz" wrap="square" lIns="90170" tIns="46990" rIns="90170" bIns="46990" rtlCol="0" anchor="t">
                <a:normAutofit/>
              </a:bodyPr>
              <a:lstStyle/>
              <a:p>
                <a:pPr marL="0" indent="0" algn="just" fontAlgn="auto">
                  <a:lnSpc>
                    <a:spcPct val="150000"/>
                  </a:lnSpc>
                  <a:defRPr/>
                </a:pPr>
                <a:r>
                  <a:rPr lang="en-US" sz="1500" b="0" i="0" u="none" baseline="0">
                    <a:solidFill>
                      <a:schemeClr val="tx1"/>
                    </a:solidFill>
                    <a:latin typeface="思源黑体 Normal"/>
                    <a:ea typeface="思源黑体 Normal"/>
                  </a:rPr>
                  <a:t>Consistency reduces style-related friction, enhances code readability, and smooths collaboration. Pro tip: Double-click .js in GitHub to open in VS Code browser.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9" y="6223"/>
                <a:ext cx="9524" cy="850"/>
              </a:xfrm>
              <a:prstGeom prst="rect">
                <a:avLst/>
              </a:prstGeom>
              <a:noFill/>
            </p:spPr>
            <p:txBody>
              <a:bodyPr vert="horz" wrap="square" lIns="90170" tIns="46990" rIns="90170" bIns="46990" rtlCol="0" anchor="ctr">
                <a:normAutofit/>
              </a:bodyPr>
              <a:lstStyle/>
              <a:p>
                <a:pPr marL="0" indent="0" algn="l" fontAlgn="auto">
                  <a:lnSpc>
                    <a:spcPct val="100000"/>
                  </a:lnSpc>
                  <a:defRPr/>
                </a:pPr>
                <a:r>
                  <a:rPr lang="en-US" sz="2000" b="1" i="0" u="none" baseline="0">
                    <a:solidFill>
                      <a:srgbClr val="EB121A"/>
                    </a:solidFill>
                    <a:latin typeface="思源黑体 Normal"/>
                    <a:ea typeface="思源黑体 Normal"/>
                  </a:rPr>
                  <a:t>Improve Readability</a:t>
                </a:r>
                <a:endParaRPr lang="en-US" sz="110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125" y="3055"/>
              <a:ext cx="9524" cy="2835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500" b="0" i="0" u="none" baseline="0">
                  <a:solidFill>
                    <a:schemeClr val="tx1"/>
                  </a:solidFill>
                  <a:latin typeface="思源黑体 Normal"/>
                  <a:ea typeface="思源黑体 Normal"/>
                </a:rPr>
                <a:t>Use linters and formatters like Prettier (built into VS Code) to maintain consistent coding conventions across the project.</a:t>
              </a:r>
              <a:endParaRPr lang="en-US" sz="11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" y="2205"/>
              <a:ext cx="952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2000" b="1" i="0" u="none" baseline="0">
                  <a:solidFill>
                    <a:srgbClr val="EB121A"/>
                  </a:solidFill>
                  <a:latin typeface="思源黑体 Normal"/>
                  <a:ea typeface="思源黑体 Normal"/>
                </a:rPr>
                <a:t>Enforce Uniformity</a:t>
              </a:r>
              <a:endParaRPr lang="en-US" sz="1100"/>
            </a:p>
          </p:txBody>
        </p:sp>
      </p:grp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3325" y="1769745"/>
            <a:ext cx="5232400" cy="4364355"/>
            <a:chOff x="1022247" y="1769914"/>
            <a:chExt cx="5232251" cy="4364186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1022247" y="1769914"/>
              <a:ext cx="5232251" cy="4364186"/>
            </a:xfrm>
            <a:custGeom>
              <a:avLst/>
              <a:gdLst/>
              <a:ahLst/>
              <a:cxnLst/>
              <a:rect l="l" t="t" r="r" b="b"/>
              <a:pathLst>
                <a:path w="5232251" h="4239000">
                  <a:moveTo>
                    <a:pt x="575868" y="0"/>
                  </a:moveTo>
                  <a:lnTo>
                    <a:pt x="4096415" y="0"/>
                  </a:lnTo>
                  <a:lnTo>
                    <a:pt x="5232251" y="4239000"/>
                  </a:lnTo>
                  <a:lnTo>
                    <a:pt x="575868" y="4239000"/>
                  </a:lnTo>
                  <a:cubicBezTo>
                    <a:pt x="257825" y="4239000"/>
                    <a:pt x="0" y="3981175"/>
                    <a:pt x="0" y="3663132"/>
                  </a:cubicBezTo>
                  <a:lnTo>
                    <a:pt x="0" y="575868"/>
                  </a:lnTo>
                  <a:cubicBezTo>
                    <a:pt x="0" y="257825"/>
                    <a:pt x="257825" y="0"/>
                    <a:pt x="57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>
              <a:off x="1203707" y="2017434"/>
              <a:ext cx="803982" cy="8039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1260827" y="2074554"/>
              <a:ext cx="689743" cy="689741"/>
            </a:xfrm>
            <a:prstGeom prst="ellipse">
              <a:avLst/>
            </a:prstGeom>
            <a:grpFill/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508705" y="2315382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grpFill/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79745" y="1769745"/>
            <a:ext cx="5407631" cy="4364355"/>
            <a:chOff x="5399051" y="1769914"/>
            <a:chExt cx="5407482" cy="4364186"/>
          </a:xfrm>
          <a:solidFill>
            <a:schemeClr val="bg1"/>
          </a:solidFill>
        </p:grpSpPr>
        <p:sp>
          <p:nvSpPr>
            <p:cNvPr id="8" name="Freeform 8"/>
            <p:cNvSpPr/>
            <p:nvPr/>
          </p:nvSpPr>
          <p:spPr>
            <a:xfrm>
              <a:off x="5399051" y="1769914"/>
              <a:ext cx="5407482" cy="4364186"/>
            </a:xfrm>
            <a:custGeom>
              <a:avLst/>
              <a:gdLst/>
              <a:ahLst/>
              <a:cxnLst/>
              <a:rect l="l" t="t" r="r" b="b"/>
              <a:pathLst>
                <a:path w="5407482" h="4239000">
                  <a:moveTo>
                    <a:pt x="0" y="0"/>
                  </a:moveTo>
                  <a:lnTo>
                    <a:pt x="4831614" y="0"/>
                  </a:lnTo>
                  <a:cubicBezTo>
                    <a:pt x="5149657" y="0"/>
                    <a:pt x="5407482" y="257825"/>
                    <a:pt x="5407482" y="575868"/>
                  </a:cubicBezTo>
                  <a:lnTo>
                    <a:pt x="5407482" y="3663132"/>
                  </a:lnTo>
                  <a:cubicBezTo>
                    <a:pt x="5407482" y="3981175"/>
                    <a:pt x="5149657" y="4239000"/>
                    <a:pt x="4831614" y="4239000"/>
                  </a:cubicBezTo>
                  <a:lnTo>
                    <a:pt x="1135837" y="42390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9804460" y="5125857"/>
              <a:ext cx="803982" cy="8039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861580" y="5182976"/>
              <a:ext cx="689743" cy="689741"/>
            </a:xfrm>
            <a:prstGeom prst="ellipse">
              <a:avLst/>
            </a:prstGeom>
            <a:grpFill/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109457" y="5423804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grpFill/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3500" y="2789555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Commit Effectively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33500" y="3581400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Commit early and often with descriptive messages, e.g., "Updated navbar links" instead of "Update something."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3985" y="1996440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Use Branches and PRs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83985" y="2789555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Work on features/bugs in branches; merge via pull requests after peer review to protect the main codebase.</a:t>
            </a:r>
          </a:p>
        </p:txBody>
      </p: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4. Version Control Best Practices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165215" y="1731645"/>
            <a:ext cx="0" cy="4116705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3" name="AutoShape 3"/>
          <p:cNvSpPr/>
          <p:nvPr/>
        </p:nvSpPr>
        <p:spPr>
          <a:xfrm>
            <a:off x="660400" y="1731645"/>
            <a:ext cx="4895850" cy="1656715"/>
          </a:xfrm>
          <a:prstGeom prst="roundRect">
            <a:avLst>
              <a:gd name="adj" fmla="val 6867"/>
            </a:avLst>
          </a:prstGeom>
          <a:blipFill rotWithShape="1">
            <a:blip r:embed="rId3"/>
            <a:stretch>
              <a:fillRect l="35" t="-45419" r="-35" b="-4658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2809875" y="3051175"/>
            <a:ext cx="673735" cy="673735"/>
            <a:chOff x="1919536" y="2739155"/>
            <a:chExt cx="504056" cy="504056"/>
          </a:xfrm>
        </p:grpSpPr>
        <p:sp>
          <p:nvSpPr>
            <p:cNvPr id="5" name="AutoShape 5"/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rgbClr val="EB121A"/>
            </a:solidFill>
            <a:ln w="25400">
              <a:solidFill>
                <a:srgbClr val="000000">
                  <a:alpha val="0"/>
                </a:srgbClr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0000">
                  <a:alpha val="0"/>
                </a:srgbClr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6647815" y="1731645"/>
            <a:ext cx="4895850" cy="1656715"/>
          </a:xfrm>
          <a:prstGeom prst="roundRect">
            <a:avLst>
              <a:gd name="adj" fmla="val 6867"/>
            </a:avLst>
          </a:prstGeom>
          <a:blipFill rotWithShape="1">
            <a:blip r:embed="rId4"/>
            <a:stretch>
              <a:fillRect l="347" t="-45419" r="-347" b="-4658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8765540" y="3051175"/>
            <a:ext cx="673735" cy="673735"/>
            <a:chOff x="1919536" y="2739155"/>
            <a:chExt cx="504056" cy="504056"/>
          </a:xfrm>
        </p:grpSpPr>
        <p:sp>
          <p:nvSpPr>
            <p:cNvPr id="9" name="AutoShape 9"/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rgbClr val="EB121A"/>
            </a:solidFill>
            <a:ln w="25400">
              <a:solidFill>
                <a:srgbClr val="000000">
                  <a:alpha val="0"/>
                </a:srgbClr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0000">
                  <a:alpha val="0"/>
                </a:srgbClr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0400" y="3807460"/>
            <a:ext cx="4895850" cy="508635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Track Tasks Efficiently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" y="431546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ln/>
                <a:solidFill>
                  <a:schemeClr val="tx1"/>
                </a:solidFill>
                <a:latin typeface="思源黑体 Normal"/>
                <a:ea typeface="思源黑体 Normal"/>
              </a:rPr>
              <a:t>Use issues for bugs, features, and tasks with clear descriptions to enable quick resolutions.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47815" y="3807460"/>
            <a:ext cx="4895850" cy="508635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Provide Timely Feedback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47815" y="431546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Actively manage PRs with constructive reviews and responsible merging to maintain quality.</a:t>
            </a:r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  <p:sp>
        <p:nvSpPr>
          <p:cNvPr id="16" name="TextBox 1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5. Issue and Pull Request Management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jpeg"/>
          <p:cNvPicPr>
            <a:picLocks noChangeAspect="1"/>
          </p:cNvPicPr>
          <p:nvPr/>
        </p:nvPicPr>
        <p:blipFill>
          <a:blip r:embed="rId3"/>
          <a:srcRect l="12285" r="12285"/>
          <a:stretch>
            <a:fillRect/>
          </a:stretch>
        </p:blipFill>
        <p:spPr>
          <a:xfrm>
            <a:off x="-12700" y="1419543"/>
            <a:ext cx="5348028" cy="4724400"/>
          </a:xfrm>
          <a:custGeom>
            <a:avLst/>
            <a:gdLst/>
            <a:ahLst/>
            <a:cxnLst/>
            <a:rect l="0" t="0" r="0" b="0"/>
            <a:pathLst>
              <a:path w="5348028" h="4724400">
                <a:moveTo>
                  <a:pt x="0" y="0"/>
                </a:moveTo>
                <a:lnTo>
                  <a:pt x="2985828" y="0"/>
                </a:lnTo>
                <a:cubicBezTo>
                  <a:pt x="4290118" y="0"/>
                  <a:pt x="5348028" y="1057910"/>
                  <a:pt x="5348028" y="2362200"/>
                </a:cubicBezTo>
                <a:cubicBezTo>
                  <a:pt x="5348028" y="3666490"/>
                  <a:pt x="4290118" y="4724400"/>
                  <a:pt x="2985828" y="4724400"/>
                </a:cubicBezTo>
                <a:lnTo>
                  <a:pt x="0" y="4724400"/>
                </a:lnTo>
                <a:close/>
              </a:path>
            </a:pathLst>
          </a:cu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grpSp>
        <p:nvGrpSpPr>
          <p:cNvPr id="3" name="Group 3"/>
          <p:cNvGrpSpPr/>
          <p:nvPr/>
        </p:nvGrpSpPr>
        <p:grpSpPr>
          <a:xfrm>
            <a:off x="5755640" y="1220470"/>
            <a:ext cx="5594350" cy="5122545"/>
            <a:chOff x="9064" y="1742"/>
            <a:chExt cx="8810" cy="8067"/>
          </a:xfrm>
        </p:grpSpPr>
        <p:sp>
          <p:nvSpPr>
            <p:cNvPr id="4" name="TextBox 4"/>
            <p:cNvSpPr txBox="1"/>
            <p:nvPr/>
          </p:nvSpPr>
          <p:spPr>
            <a:xfrm>
              <a:off x="9064" y="2592"/>
              <a:ext cx="8811" cy="3118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tx1"/>
                  </a:solidFill>
                  <a:latin typeface="思源黑体 Normal"/>
                  <a:ea typeface="思源黑体 Normal"/>
                </a:rPr>
                <a:t>Implement CI/CD using GitHub Actions, Travis CI, or CircleCI to automate testing, building, and deployment.</a:t>
              </a:r>
              <a:endParaRPr lang="en-US" sz="11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4" y="1742"/>
              <a:ext cx="8811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B121A"/>
                  </a:solidFill>
                  <a:latin typeface="思源黑体 Normal"/>
                  <a:ea typeface="思源黑体 Normal"/>
                </a:rPr>
                <a:t>Automate Pipelines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4" y="6691"/>
              <a:ext cx="8811" cy="3118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chemeClr val="tx1"/>
                  </a:solidFill>
                  <a:latin typeface="思源黑体 Normal"/>
                  <a:ea typeface="思源黑体 Normal"/>
                </a:rPr>
                <a:t>Automation prevents regressions, ensures smooth deployments, and upholds code quality from contributor changes.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4" y="5841"/>
              <a:ext cx="8811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B121A"/>
                  </a:solidFill>
                  <a:latin typeface="思源黑体 Normal"/>
                  <a:ea typeface="思源黑体 Normal"/>
                </a:rPr>
                <a:t>Reduce Risks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6. Continuous Integration and Deployment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6000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5763864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1230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3779" b="1" i="0" u="none" baseline="0">
                <a:solidFill>
                  <a:srgbClr val="EB121A"/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5" name="AutoShape 5"/>
          <p:cNvSpPr/>
          <p:nvPr/>
        </p:nvSpPr>
        <p:spPr>
          <a:xfrm>
            <a:off x="10335836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3779" b="1" i="0" u="none" baseline="0">
                <a:solidFill>
                  <a:srgbClr val="EB121A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1230" y="253174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Document Thoroughly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842125" y="253301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Tools for Better Docs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1230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Include inline comments, API docs (JSDoc/Doxygen), wikis, and dedicated sites for functionalities and implementation.</a:t>
            </a:r>
          </a:p>
        </p:txBody>
      </p:sp>
      <p:sp>
        <p:nvSpPr>
          <p:cNvPr id="9" name="AutoShape 9"/>
          <p:cNvSpPr/>
          <p:nvPr/>
        </p:nvSpPr>
        <p:spPr>
          <a:xfrm>
            <a:off x="6843495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r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Use VS Code extensions like Better Comments (color-coded) and TODO Tree. Crucial for users and maintainers alike.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7. Comprehensive Documentation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0800000">
            <a:off x="2148695" y="1338360"/>
            <a:ext cx="9000000" cy="2304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50800" tIns="50800" rIns="50800" bIns="50800" rtlCol="0" anchor="ctr">
            <a:normAutofit/>
          </a:bodyPr>
          <a:lstStyle/>
          <a:p>
            <a:pPr marL="0" indent="0" algn="ctr">
              <a:lnSpc>
                <a:spcPts val="2725"/>
              </a:lnSpc>
              <a:spcBef>
                <a:spcPct val="0"/>
              </a:spcBef>
              <a:defRPr/>
            </a:pP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 rot="-10800000">
            <a:off x="2148695" y="4026950"/>
            <a:ext cx="9000000" cy="2304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50800" tIns="50800" rIns="50800" bIns="50800" rtlCol="0" anchor="ctr">
            <a:normAutofit/>
          </a:bodyPr>
          <a:lstStyle/>
          <a:p>
            <a:pPr marL="0" indent="0" algn="ctr">
              <a:lnSpc>
                <a:spcPts val="2725"/>
              </a:lnSpc>
              <a:spcBef>
                <a:spcPct val="0"/>
              </a:spcBef>
              <a:defRPr/>
            </a:pP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928370" y="4625865"/>
            <a:ext cx="1106170" cy="1106170"/>
            <a:chOff x="892" y="7111"/>
            <a:chExt cx="1742" cy="1742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892" y="7111"/>
              <a:ext cx="1742" cy="1742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21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83" y="7408"/>
              <a:ext cx="1361" cy="114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02</a:t>
              </a:r>
              <a:endParaRPr lang="en-US" sz="11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28545" y="476758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Clear licensing defines usage, modification, and distribution rights, safeguarding contributors and boosting collaboration.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2328545" y="4227195"/>
            <a:ext cx="863981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Protect and Encourage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328545" y="207645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Select an open-source license aligning with project goals; display it prominently in the repo.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928370" y="1937275"/>
            <a:ext cx="1106170" cy="1106170"/>
            <a:chOff x="1237" y="3051"/>
            <a:chExt cx="1742" cy="1742"/>
          </a:xfrm>
        </p:grpSpPr>
        <p:sp>
          <p:nvSpPr>
            <p:cNvPr id="11" name="Freeform 11"/>
            <p:cNvSpPr/>
            <p:nvPr/>
          </p:nvSpPr>
          <p:spPr>
            <a:xfrm>
              <a:off x="1237" y="3051"/>
              <a:ext cx="1742" cy="1742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121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28" y="3348"/>
              <a:ext cx="1361" cy="114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01</a:t>
              </a:r>
              <a:endParaRPr lang="en-US" sz="11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28545" y="1536700"/>
            <a:ext cx="863981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Choose Appropriately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8. License Management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4661" y="1585024"/>
            <a:ext cx="4570894" cy="4535086"/>
            <a:chOff x="10570" y="2519"/>
            <a:chExt cx="7198" cy="7142"/>
          </a:xfrm>
        </p:grpSpPr>
        <p:sp>
          <p:nvSpPr>
            <p:cNvPr id="3" name="Freeform 3"/>
            <p:cNvSpPr/>
            <p:nvPr/>
          </p:nvSpPr>
          <p:spPr>
            <a:xfrm rot="11588930">
              <a:off x="10570" y="2844"/>
              <a:ext cx="6944" cy="6816"/>
            </a:xfrm>
            <a:custGeom>
              <a:avLst/>
              <a:gdLst/>
              <a:ahLst/>
              <a:cxnLst/>
              <a:rect l="l" t="t" r="r" b="b"/>
              <a:pathLst>
                <a:path w="2879096" h="2825937">
                  <a:moveTo>
                    <a:pt x="155801" y="656522"/>
                  </a:moveTo>
                  <a:cubicBezTo>
                    <a:pt x="280483" y="472785"/>
                    <a:pt x="506988" y="388965"/>
                    <a:pt x="723967" y="435637"/>
                  </a:cubicBezTo>
                  <a:cubicBezTo>
                    <a:pt x="907228" y="475071"/>
                    <a:pt x="1281656" y="484786"/>
                    <a:pt x="1725140" y="102453"/>
                  </a:cubicBezTo>
                  <a:cubicBezTo>
                    <a:pt x="1725140" y="102453"/>
                    <a:pt x="2146336" y="-241209"/>
                    <a:pt x="2574960" y="330291"/>
                  </a:cubicBezTo>
                  <a:cubicBezTo>
                    <a:pt x="3003585" y="901791"/>
                    <a:pt x="2879760" y="1720941"/>
                    <a:pt x="2794035" y="1930491"/>
                  </a:cubicBezTo>
                  <a:cubicBezTo>
                    <a:pt x="2708310" y="2140041"/>
                    <a:pt x="2460660" y="2835366"/>
                    <a:pt x="1851061" y="2825841"/>
                  </a:cubicBezTo>
                  <a:cubicBezTo>
                    <a:pt x="1241461" y="2816316"/>
                    <a:pt x="1451011" y="2175093"/>
                    <a:pt x="603286" y="1933729"/>
                  </a:cubicBezTo>
                  <a:cubicBezTo>
                    <a:pt x="-244440" y="1692366"/>
                    <a:pt x="22260" y="920841"/>
                    <a:pt x="107985" y="739866"/>
                  </a:cubicBezTo>
                  <a:cubicBezTo>
                    <a:pt x="121606" y="711291"/>
                    <a:pt x="137608" y="683288"/>
                    <a:pt x="155801" y="656522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  <p:pic>
          <p:nvPicPr>
            <p:cNvPr id="4" name="image69.jpeg"/>
            <p:cNvPicPr>
              <a:picLocks noChangeAspect="1"/>
            </p:cNvPicPr>
            <p:nvPr/>
          </p:nvPicPr>
          <p:blipFill rotWithShape="1">
            <a:blip r:embed="rId3"/>
            <a:srcRect l="14004" t="-5" r="14003" b="5"/>
            <a:stretch>
              <a:fillRect/>
            </a:stretch>
          </p:blipFill>
          <p:spPr>
            <a:xfrm rot="21445174">
              <a:off x="10657" y="2793"/>
              <a:ext cx="7111" cy="6598"/>
            </a:xfrm>
            <a:custGeom>
              <a:avLst/>
              <a:gdLst/>
              <a:ahLst/>
              <a:cxnLst/>
              <a:rect l="0" t="0" r="0" b="0"/>
              <a:pathLst>
                <a:path w="4515311" h="4189463">
                  <a:moveTo>
                    <a:pt x="1139864" y="1681"/>
                  </a:moveTo>
                  <a:cubicBezTo>
                    <a:pt x="1666331" y="38907"/>
                    <a:pt x="1958762" y="680183"/>
                    <a:pt x="3039740" y="494141"/>
                  </a:cubicBezTo>
                  <a:cubicBezTo>
                    <a:pt x="4370176" y="265163"/>
                    <a:pt x="4513638" y="1507199"/>
                    <a:pt x="4515307" y="1813904"/>
                  </a:cubicBezTo>
                  <a:cubicBezTo>
                    <a:pt x="4515453" y="1862388"/>
                    <a:pt x="4511932" y="1911661"/>
                    <a:pt x="4504565" y="1960680"/>
                  </a:cubicBezTo>
                  <a:cubicBezTo>
                    <a:pt x="4454282" y="2297034"/>
                    <a:pt x="4197159" y="2562971"/>
                    <a:pt x="3866646" y="2642434"/>
                  </a:cubicBezTo>
                  <a:cubicBezTo>
                    <a:pt x="3587485" y="2709528"/>
                    <a:pt x="3064108" y="2944432"/>
                    <a:pt x="2705395" y="3766393"/>
                  </a:cubicBezTo>
                  <a:cubicBezTo>
                    <a:pt x="2705395" y="3766393"/>
                    <a:pt x="2351807" y="4520184"/>
                    <a:pt x="1381038" y="4015432"/>
                  </a:cubicBezTo>
                  <a:cubicBezTo>
                    <a:pt x="410268" y="3510681"/>
                    <a:pt x="37969" y="2297647"/>
                    <a:pt x="17349" y="1951491"/>
                  </a:cubicBezTo>
                  <a:cubicBezTo>
                    <a:pt x="-3270" y="1605335"/>
                    <a:pt x="-122497" y="481134"/>
                    <a:pt x="725429" y="90005"/>
                  </a:cubicBezTo>
                  <a:cubicBezTo>
                    <a:pt x="884415" y="16668"/>
                    <a:pt x="1018371" y="-6910"/>
                    <a:pt x="1139864" y="1681"/>
                  </a:cubicBezTo>
                  <a:close/>
                </a:path>
              </a:pathLst>
            </a:cu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sp>
          <p:nvSpPr>
            <p:cNvPr id="5" name="AutoShape 5"/>
            <p:cNvSpPr/>
            <p:nvPr/>
          </p:nvSpPr>
          <p:spPr>
            <a:xfrm>
              <a:off x="13808" y="2519"/>
              <a:ext cx="404" cy="40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16460" y="8648"/>
              <a:ext cx="252" cy="2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3620" y="1551940"/>
            <a:ext cx="5435600" cy="4601210"/>
            <a:chOff x="1657" y="2489"/>
            <a:chExt cx="8560" cy="7246"/>
          </a:xfrm>
        </p:grpSpPr>
        <p:sp>
          <p:nvSpPr>
            <p:cNvPr id="8" name="AutoShape 8"/>
            <p:cNvSpPr/>
            <p:nvPr/>
          </p:nvSpPr>
          <p:spPr>
            <a:xfrm>
              <a:off x="1657" y="335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chemeClr val="tx1"/>
                  </a:solidFill>
                  <a:latin typeface="思源黑体 Normal"/>
                  <a:ea typeface="思源黑体 Normal"/>
                </a:rPr>
                <a:t>Regularly update dependencies, conduct security audits, and follow secure coding practices.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7" y="2489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EB121A"/>
                  </a:solidFill>
                  <a:latin typeface="思源黑体 Normal"/>
                  <a:ea typeface="思源黑体 Normal"/>
                </a:rPr>
                <a:t>Prioritize Updates and Audits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657" y="707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chemeClr val="tx1"/>
                  </a:solidFill>
                  <a:latin typeface="思源黑体 Normal"/>
                  <a:ea typeface="思源黑体 Normal"/>
                </a:rPr>
                <a:t>Enable vulnerability scanning to proactively identify and fix threats in your repository.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7" y="6226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EB121A"/>
                  </a:solidFill>
                  <a:latin typeface="思源黑体 Normal"/>
                  <a:ea typeface="思源黑体 Normal"/>
                </a:rPr>
                <a:t>Automated Scanning</a:t>
              </a:r>
              <a:endParaRPr lang="en-US" sz="11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  <p:sp>
        <p:nvSpPr>
          <p:cNvPr id="13" name="TextBox 1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9. Security Best Practices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47790" y="1684655"/>
            <a:ext cx="5207000" cy="2124000"/>
          </a:xfrm>
          <a:prstGeom prst="roundRect">
            <a:avLst>
              <a:gd name="adj" fmla="val 8000"/>
            </a:avLst>
          </a:prstGeom>
          <a:blipFill rotWithShape="1">
            <a:blip r:embed="rId3"/>
            <a:srcRect/>
            <a:stretch>
              <a:fillRect t="-32871" b="-32476"/>
            </a:stretch>
          </a:blipFill>
          <a:ln cap="flat" cmpd="sng">
            <a:noFill/>
            <a:prstDash val="solid"/>
            <a:miter lim="800000"/>
          </a:ln>
          <a:effectLst>
            <a:outerShdw blurRad="127000" dist="63500" dir="5400000" algn="t" rotWithShape="0">
              <a:schemeClr val="tx2">
                <a:alpha val="20000"/>
              </a:schemeClr>
            </a:outerShdw>
          </a:effectLst>
        </p:spPr>
        <p:txBody>
          <a:bodyPr rot="0"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212808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Build a welcoming community with respectful communication, guidance for newcomers, and recognition of contributions.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1050" y="168465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Foster Inclusivity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47790" y="3953375"/>
            <a:ext cx="5207000" cy="2124000"/>
          </a:xfrm>
          <a:prstGeom prst="roundRect">
            <a:avLst>
              <a:gd name="adj" fmla="val 8000"/>
            </a:avLst>
          </a:prstGeom>
          <a:blipFill>
            <a:blip r:embed="rId4"/>
            <a:srcRect/>
            <a:stretch>
              <a:fillRect t="-33066" b="-32669"/>
            </a:stretch>
          </a:blipFill>
          <a:ln cap="flat" cmpd="sng">
            <a:noFill/>
            <a:prstDash val="solid"/>
            <a:miter lim="800000"/>
          </a:ln>
          <a:effectLst>
            <a:outerShdw blurRad="127000" dist="63500" dir="5400000" algn="t" rotWithShape="0">
              <a:schemeClr val="tx2">
                <a:alpha val="20000"/>
              </a:schemeClr>
            </a:outerShdw>
          </a:effectLst>
        </p:spPr>
        <p:txBody>
          <a:bodyPr rot="0"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81050" y="438537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Encourage simple contributions (e.g., Barney Coin repo) and promptly address discussions for positive collaboration.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1050" y="395337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EB121A"/>
                </a:solidFill>
                <a:latin typeface="思源黑体 Normal"/>
                <a:ea typeface="思源黑体 Normal"/>
              </a:rPr>
              <a:t>Active Participation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B121A"/>
                </a:solidFill>
                <a:latin typeface="思源黑体 Normal"/>
                <a:ea typeface="思源黑体 Normal"/>
              </a:rPr>
              <a:t>10. Community Engagement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B121A"/>
          </a:solidFill>
        </p:spPr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l="-1000" t="-1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35580" y="6408416"/>
            <a:ext cx="1112519" cy="350519"/>
            <a:chOff x="5742940" y="7112000"/>
            <a:chExt cx="1112519" cy="350519"/>
          </a:xfrm>
          <a:solidFill>
            <a:srgbClr val="30A6D3"/>
          </a:solidFill>
        </p:grpSpPr>
        <p:grpSp>
          <p:nvGrpSpPr>
            <p:cNvPr id="3" name="Group 3"/>
            <p:cNvGrpSpPr/>
            <p:nvPr/>
          </p:nvGrpSpPr>
          <p:grpSpPr>
            <a:xfrm>
              <a:off x="5742940" y="71120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4" name="AutoShape 4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" name="AutoShape 5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8" name="AutoShape 8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5742940" y="72644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13" name="AutoShape 13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5" name="AutoShape 15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742940" y="74168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22" name="AutoShape 22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3" name="AutoShape 23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4" name="AutoShape 24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5" name="AutoShape 25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6" name="AutoShape 26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7" name="AutoShape 27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8" name="AutoShape 28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29" name="AutoShape 29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241300" y="1581785"/>
            <a:ext cx="6809605" cy="292333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zh-CN" altLang="en-US" sz="5400" b="1" i="0" u="none" spc="200" baseline="0">
                <a:solidFill>
                  <a:schemeClr val="accent6"/>
                </a:solidFill>
                <a:latin typeface="思源黑体 Medium"/>
                <a:ea typeface="思源黑体 Medium"/>
              </a:rPr>
              <a:t>Report completed.</a:t>
            </a:r>
            <a:endParaRPr lang="en-US" sz="1100"/>
          </a:p>
          <a:p>
            <a:pPr marL="0" indent="0" algn="l" fontAlgn="auto">
              <a:lnSpc>
                <a:spcPct val="100000"/>
              </a:lnSpc>
            </a:pPr>
            <a:r>
              <a:rPr lang="zh-CN" altLang="en-US" sz="7200" b="1" i="0" u="none" spc="200" baseline="0">
                <a:solidFill>
                  <a:schemeClr val="tx1"/>
                </a:solidFill>
                <a:latin typeface="思源黑体 Medium"/>
                <a:ea typeface="思源黑体 Medium"/>
              </a:rPr>
              <a:t>Thank you for your attention!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33985" y="6408416"/>
            <a:ext cx="1112519" cy="350519"/>
            <a:chOff x="5742940" y="7112000"/>
            <a:chExt cx="1112519" cy="350519"/>
          </a:xfrm>
          <a:solidFill>
            <a:srgbClr val="30A6D3"/>
          </a:solidFill>
        </p:grpSpPr>
        <p:grpSp>
          <p:nvGrpSpPr>
            <p:cNvPr id="38" name="Group 38"/>
            <p:cNvGrpSpPr/>
            <p:nvPr/>
          </p:nvGrpSpPr>
          <p:grpSpPr>
            <a:xfrm>
              <a:off x="5742940" y="71120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39" name="AutoShape 39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0" name="AutoShape 40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1" name="AutoShape 41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2" name="AutoShape 42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3" name="AutoShape 43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4" name="AutoShape 44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5" name="AutoShape 45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6" name="AutoShape 46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742940" y="72644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48" name="AutoShape 48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49" name="AutoShape 49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0" name="AutoShape 50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1" name="AutoShape 51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2" name="AutoShape 52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3" name="AutoShape 53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4" name="AutoShape 54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5" name="AutoShape 55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5742940" y="7416800"/>
              <a:ext cx="1112519" cy="45719"/>
              <a:chOff x="5590540" y="7112000"/>
              <a:chExt cx="1112519" cy="45719"/>
            </a:xfrm>
            <a:grpFill/>
          </p:grpSpPr>
          <p:sp>
            <p:nvSpPr>
              <p:cNvPr id="57" name="AutoShape 57"/>
              <p:cNvSpPr/>
              <p:nvPr/>
            </p:nvSpPr>
            <p:spPr>
              <a:xfrm>
                <a:off x="5590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8" name="AutoShape 58"/>
              <p:cNvSpPr/>
              <p:nvPr/>
            </p:nvSpPr>
            <p:spPr>
              <a:xfrm>
                <a:off x="5742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59" name="AutoShape 59"/>
              <p:cNvSpPr/>
              <p:nvPr/>
            </p:nvSpPr>
            <p:spPr>
              <a:xfrm>
                <a:off x="5895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60" name="AutoShape 60"/>
              <p:cNvSpPr/>
              <p:nvPr/>
            </p:nvSpPr>
            <p:spPr>
              <a:xfrm>
                <a:off x="60477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61" name="AutoShape 61"/>
              <p:cNvSpPr/>
              <p:nvPr/>
            </p:nvSpPr>
            <p:spPr>
              <a:xfrm>
                <a:off x="62001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62" name="AutoShape 62"/>
              <p:cNvSpPr/>
              <p:nvPr/>
            </p:nvSpPr>
            <p:spPr>
              <a:xfrm>
                <a:off x="63525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63" name="AutoShape 63"/>
              <p:cNvSpPr/>
              <p:nvPr/>
            </p:nvSpPr>
            <p:spPr>
              <a:xfrm>
                <a:off x="65049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  <p:sp>
            <p:nvSpPr>
              <p:cNvPr id="64" name="AutoShape 64"/>
              <p:cNvSpPr/>
              <p:nvPr/>
            </p:nvSpPr>
            <p:spPr>
              <a:xfrm>
                <a:off x="6657340" y="71120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l"/>
                <a:endParaRPr/>
              </a:p>
            </p:txBody>
          </p:sp>
        </p:grpSp>
      </p:grp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EB121A"/>
      </a:dk2>
      <a:lt2>
        <a:srgbClr val="FFFFFF"/>
      </a:lt2>
      <a:accent1>
        <a:srgbClr val="EB121A"/>
      </a:accent1>
      <a:accent2>
        <a:srgbClr val="EB121A"/>
      </a:accent2>
      <a:accent3>
        <a:srgbClr val="EB121A"/>
      </a:accent3>
      <a:accent4>
        <a:srgbClr val="EB121A"/>
      </a:accent4>
      <a:accent5>
        <a:srgbClr val="EB121A"/>
      </a:accent5>
      <a:accent6>
        <a:srgbClr val="EB121A"/>
      </a:accent6>
      <a:hlink>
        <a:srgbClr val="262626"/>
      </a:hlink>
      <a:folHlink>
        <a:srgbClr val="262626"/>
      </a:folHlink>
    </a:clrScheme>
    <a:fontScheme name="Office">
      <a:maj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617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Microsoft YaHei</vt:lpstr>
      <vt:lpstr>Arial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Kevin Kashung</cp:lastModifiedBy>
  <cp:revision>2</cp:revision>
  <dcterms:created xsi:type="dcterms:W3CDTF">2026-02-04T05:09:41Z</dcterms:created>
  <dcterms:modified xsi:type="dcterms:W3CDTF">2026-02-04T05:13:01Z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{"ContentPropagator":"文多多","Label":"1","ReservedCode1":"1770181781777","ProduceID":"wenduoduo-pptx-1770181781777","ReservedCode2":"1770181781777","PropagateID":"wenduoduo-pptx1770181781777","ContentProducer":"文多多"}</vt:lpwstr>
  </property>
</Properties>
</file>